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B6E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工程营 · Day 2 · 图像二分类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94360" y="160020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混凝土裂缝图像筛查器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9D6E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多数类基线  vs  小型 CNN  ·  重点检查漏检裂缝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640080" y="3401568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3B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 Kaggle 真实混凝土裂缝照片：Positive / Negative 各 20,000 张，输出只用于安排人工复核顺序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2286000" cy="713232"/>
          </a:xfrm>
          <a:prstGeom prst="roundRect">
            <a:avLst>
              <a:gd name="adj" fmla="val 15385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4507992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6E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40,000 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4672" y="4837176"/>
            <a:ext cx="1956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真实图像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08960" y="4434840"/>
            <a:ext cx="2286000" cy="713232"/>
          </a:xfrm>
          <a:prstGeom prst="roundRect">
            <a:avLst>
              <a:gd name="adj" fmla="val 15385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73552" y="4507992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6CA9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0.813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273552" y="4837176"/>
            <a:ext cx="1956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CNN 准确率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577840" y="4434840"/>
            <a:ext cx="2286000" cy="713232"/>
          </a:xfrm>
          <a:prstGeom prst="roundRect">
            <a:avLst>
              <a:gd name="adj" fmla="val 15385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42432" y="4507992"/>
            <a:ext cx="19568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5F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 张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742432" y="4837176"/>
            <a:ext cx="19568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漏检裂缝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83880" y="1417320"/>
            <a:ext cx="3246120" cy="3246120"/>
          </a:xfrm>
          <a:prstGeom prst="roundRect">
            <a:avLst>
              <a:gd name="adj" fmla="val 2817"/>
            </a:avLst>
          </a:prstGeom>
          <a:solidFill>
            <a:srgbClr val="16233A"/>
          </a:solidFill>
          <a:ln w="25400">
            <a:solidFill>
              <a:srgbClr val="6096E6"/>
            </a:solidFill>
            <a:prstDash val="solid"/>
          </a:ln>
        </p:spPr>
      </p:sp>
      <p:pic>
        <p:nvPicPr>
          <p:cNvPr id="16" name="Image 0" descr="C:/Users/蔡焕新/Documents/GitHub/mikuday0/student-work/day-02-concrete/data/raw/Positive/15704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2" y="1581912"/>
            <a:ext cx="2926080" cy="2926080"/>
          </a:xfrm>
          <a:prstGeom prst="ellipse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183880" y="480060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3B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一条真实裂缝（Positive）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问题与使用者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一张混凝土照片进来，输出一个「可能有裂缝 / 未发现裂缝」的判断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9047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096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使用者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4708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需要先筛选大量照片、再安排人工复核的设施维护团队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670048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889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14553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把照片分成「可能有裂缝 / 未发现裂缝」两组，优先推送可能有裂缝的，并检查有没有漏掉真裂缝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968496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8736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真实输入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4443984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Kaggle Concrete Crack Images：Positive / Negative 各 20,000 张（经 --check-data 验证）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5266944"/>
            <a:ext cx="5120640" cy="1170432"/>
          </a:xfrm>
          <a:prstGeom prst="roundRect">
            <a:avLst>
              <a:gd name="adj" fmla="val 7813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3858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5F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边界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5742432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只用于安排人工复核顺序，不替代现场检查、工程师判断或安全决策</a:t>
            </a:r>
            <a:endParaRPr lang="en-US" sz="1250" dirty="0"/>
          </a:p>
        </p:txBody>
      </p:sp>
      <p:pic>
        <p:nvPicPr>
          <p:cNvPr id="16" name="Image 0" descr="C:/Users/蔡焕新/AppData/Local/Temp/pptxbuild/assets/pos_n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148840"/>
            <a:ext cx="5806440" cy="170992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5943600" y="4069080"/>
            <a:ext cx="5806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模型看到的是图像像素，不是表格里的一行数字——CNN 自动从像素里学习裂缝的边缘与纹理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方法与基线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两条路线在同一数据、同一划分、同一指标下比较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F5F8FC"/>
          </a:solidFill>
          <a:ln w="19050">
            <a:solidFill>
              <a:srgbClr val="6096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447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096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简单基线 · 多数类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总猜训练集最多的类别，完全不读图像像素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3258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F5F8FC"/>
          </a:solidFill>
          <a:ln w="19050">
            <a:solidFill>
              <a:srgbClr val="56CA9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4447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6CA9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候选 · SmallCNN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92240" y="181051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两层卷积 + 池化 + 全连接，9,586 个参数，训练 2 个 epoch</a:t>
            </a:r>
            <a:endParaRPr lang="en-US" sz="1250" dirty="0"/>
          </a:p>
        </p:txBody>
      </p:sp>
      <p:pic>
        <p:nvPicPr>
          <p:cNvPr id="10" name="Image 0" descr="C:/Users/蔡焕新/AppData/Local/Temp/pptxbuild/assets/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51760"/>
            <a:ext cx="11201400" cy="33741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48640" y="612648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同数据、同 75/25 划分（seed 2026：训练 900 / 测试 300）、同指标——只有模型不同，比较才公平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最重要证据：同一测试集的同条件比较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300 张留出测试图，seed 2026，每类取 600 张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指标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基线（多数类）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候选（SmallCNN）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42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72A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accuracy 准确率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72A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56CA9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0.813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72A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recall_crack 裂缝召回率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72A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56CA9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0.713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72A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precision_crack 裂缝精确率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72A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72A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0.892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C5F7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漏检裂缝（假阴性）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72A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C5F7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43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72A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误报（假阳性）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72A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72A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720840" y="1371600"/>
            <a:ext cx="4937760" cy="1060704"/>
          </a:xfrm>
          <a:prstGeom prst="roundRect">
            <a:avLst>
              <a:gd name="adj" fmla="val 7759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903720" y="145389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96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混淆矩阵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903720" y="1737360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候选 [[137, 13], [43, 107]] → TN=137、FP=13、FN=43、TP=107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720840" y="2578608"/>
            <a:ext cx="4937760" cy="1060704"/>
          </a:xfrm>
          <a:prstGeom prst="roundRect">
            <a:avLst>
              <a:gd name="adj" fmla="val 7759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03720" y="266090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96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亲手验算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903720" y="2944368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召回率 = 107/150 ≈ 0.713；精确率 = 107/120 ≈ 0.892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720840" y="3785616"/>
            <a:ext cx="4937760" cy="1060704"/>
          </a:xfrm>
          <a:prstGeom prst="roundRect">
            <a:avLst>
              <a:gd name="adj" fmla="val 7759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03720" y="38679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96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关键解读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903720" y="4151376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基线全猜 crack 虽召回 1.0 却误报 150 张（没有筛选价值）；CNN 把误报降到 13，代价是 43 张漏检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720840" y="4992624"/>
            <a:ext cx="4937760" cy="1060704"/>
          </a:xfrm>
          <a:prstGeom prst="roundRect">
            <a:avLst>
              <a:gd name="adj" fmla="val 7759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03720" y="50749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96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错误分布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903720" y="5358384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56 个错误 = 43 漏检 + 13 误报；漏检组平均更亮（0.716 vs 0.607），误报组最暗（0.548）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失败、限制与下一问题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一个真实漏检案例 + 边界 + 下一步（配图均为真实数据）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97480" cy="4846320"/>
          </a:xfrm>
          <a:prstGeom prst="roundRect">
            <a:avLst>
              <a:gd name="adj" fmla="val 3390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527048"/>
            <a:ext cx="2441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5F7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真实失败案例</a:t>
            </a:r>
            <a:endParaRPr lang="en-US" sz="1500" dirty="0"/>
          </a:p>
        </p:txBody>
      </p:sp>
      <p:pic>
        <p:nvPicPr>
          <p:cNvPr id="6" name="Image 0" descr="C:/Users/蔡焕新/AppData/Local/Temp/pptxbuild/assets/cas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920240"/>
            <a:ext cx="2441448" cy="1764792"/>
          </a:xfrm>
          <a:prstGeom prst="ellipse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" y="4023360"/>
            <a:ext cx="2441448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真实有裂缝，被预测无裂缝——比平均裂缝图更亮、对比更弱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401568" y="1417320"/>
            <a:ext cx="2697480" cy="4846320"/>
          </a:xfrm>
          <a:prstGeom prst="roundRect">
            <a:avLst>
              <a:gd name="adj" fmla="val 3390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529584" y="1527048"/>
            <a:ext cx="2441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096E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为什么出错</a:t>
            </a:r>
            <a:endParaRPr lang="en-US" sz="1500" dirty="0"/>
          </a:p>
        </p:txBody>
      </p:sp>
      <p:pic>
        <p:nvPicPr>
          <p:cNvPr id="10" name="Image 1" descr="C:/Users/蔡焕新/AppData/Local/Temp/pptxbuild/assets/cas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920240"/>
            <a:ext cx="2441448" cy="1764792"/>
          </a:xfrm>
          <a:prstGeom prst="ellipse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29584" y="4023360"/>
            <a:ext cx="2441448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偏亮 + 裂缝对比弱 + 边缘密度低，弱外观信号被当成干净表面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254496" y="1417320"/>
            <a:ext cx="2697480" cy="4846320"/>
          </a:xfrm>
          <a:prstGeom prst="roundRect">
            <a:avLst>
              <a:gd name="adj" fmla="val 3390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382512" y="1527048"/>
            <a:ext cx="2441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A5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不能下的结论</a:t>
            </a:r>
            <a:endParaRPr lang="en-US" sz="1500" dirty="0"/>
          </a:p>
        </p:txBody>
      </p:sp>
      <p:pic>
        <p:nvPicPr>
          <p:cNvPr id="14" name="Image 2" descr="C:/Users/蔡焕新/AppData/Local/Temp/pptxbuild/assets/case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920240"/>
            <a:ext cx="2441448" cy="1764792"/>
          </a:xfrm>
          <a:prstGeom prst="ellipse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82512" y="4023360"/>
            <a:ext cx="2441448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筛查≠安全鉴定；只报准确率会掩盖漏检；子集不推广到全部 40,000 张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9107424" y="1417320"/>
            <a:ext cx="2697480" cy="4846320"/>
          </a:xfrm>
          <a:prstGeom prst="roundRect">
            <a:avLst>
              <a:gd name="adj" fmla="val 3390"/>
            </a:avLst>
          </a:prstGeom>
          <a:solidFill>
            <a:srgbClr val="F5F8FC"/>
          </a:solidFill>
          <a:ln w="12700">
            <a:solidFill>
              <a:srgbClr val="E4EAF2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9235440" y="1527048"/>
            <a:ext cx="2441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6CA9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下一问题</a:t>
            </a:r>
            <a:endParaRPr lang="en-US" sz="1500" dirty="0"/>
          </a:p>
        </p:txBody>
      </p:sp>
      <p:pic>
        <p:nvPicPr>
          <p:cNvPr id="18" name="Image 3" descr="C:/Users/蔡焕新/AppData/Local/Temp/pptxbuild/assets/case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0" y="1920240"/>
            <a:ext cx="2441448" cy="1764792"/>
          </a:xfrm>
          <a:prstGeom prst="ellipse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35440" y="4023360"/>
            <a:ext cx="2441448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2A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人工查看 43 张漏检图确认裂缝；同条件下试更多 epoch，先预测再实验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2026-08-18T13:46:29Z</dcterms:created>
  <dcterms:modified xsi:type="dcterms:W3CDTF">2026-08-18T13:46:29Z</dcterms:modified>
</cp:coreProperties>
</file>